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72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파라미터 수 ≠ 연산량. MoE는 이 둘을 분리하는 아키텍처.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MoE의 3가지 핵심 구성요소: Expert(전문가 네트워크), Router(게이트), Sparse Activation(희소 활성화)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활성 비율이 3~15%. 즉 전체 파라미터의 극소수만 토큰당 연산에 참여. 비용은 활성 파라미터에 비례.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6가지 과제는 서로 연결되어 있음. 로드 불균형은 분산 학습을 어렵게 하고, 메모리 문제는 파인튜닝을 비효율적으로 만듦.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딜레마: 균형과 전문화는 본질적으로 상충. Auxiliary loss는 이 트레이드오프를 해결하지 못함.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놀랍도록 단순한 해결책. bias를 gradient가 아닌 규칙 기반으로 업데이트하여 메인 학습과 분리.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Dense 모델에서는 정책 변화가 점진적이지만, MoE에서는 라우팅 변경으로 불연속적 변화 발생.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SimSMoE: 토큰 배정 수가 아닌 출력 표현의 다양성을 강제. Router-Aware IS: 라우팅 변화량에 비례하여 gradient를 감쇠.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편집자와 교정자가 동시에 일하지만 서로 대화하지 않는 것과 같음. 복잡한 작업에는 순차 협력이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CoE는 Expert를 릴레이 방식으로 체이닝. 각 iteration마다 독립 라우터가 중간 결과를 보고 다음 Expert 선택.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압축/배포 시 Super Expert 식별이 필수. 나이브한 프루닝은 모델을 파괴할 수 있음.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MoE의 근본적 모순: 활성화는 소수지만 저장은 전체. 이 gap을 어떻게 메우느냐가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연산과 전송을 겹치는 것. 예측 정확도가 높을수록 캐시 미스가 줄어 성능 향상.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MoE 라우팅은 태스크별로 매우 편향됨. 소수 Expert만 대부분의 토큰 처리. 이 소수만 튜닝하면 충분.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Dense 모델은 통신 패턴이 규칙적(all-reduce). MoE는 all-to-all로 불규칙하고 스케일링이 어려움.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Megatron Core: NVIDIA의 대규모 MoE 학습 프레임워크. FSMoE: 범용 MoE 학습 최적화 시스템.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여정에 따라 3가지 경로. 대부분은 Bedrock에서 시작하여 필요에 따라 SageMaker/Trn3로 이동.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Bedrock은 MoE의 배포 난제를 완전히 해결. 사용자는 모델의 지식만 활용하고 인프라는 AWS가 관리.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Multi-LoRA: 기본 MoE 모델은 공유하고 adapter만 교체. MoE의 sparse 특성과 LoRA의 경량성이 시너지.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SMP v2는 PyTorch 네이티브 통합. 기존 학습 코드에 몇 줄 추가로 4D 병렬화 적용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Trn3는 MoE의 통신 패턴(all-to-all)에 최적화된 인터커넥트를 가진 최초의 상용 AI 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NKI는 CUDA 커널에 해당하는 Trainium용 저수준 프로그래밍 인터페이스. MoE 연구자에게 큰 유연성 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프로덕션 구성 시 이 4가지 축을 조합. 워크로드에 따라 컴퓨팅 선택이 달라짐.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방향들은 모두 활발히 연구 중. AWS Neuron SDK의 NKI를 통해 일부는 직접 실험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48640"/>
            <a:ext cx="585216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0"/>
            <a:ext cx="110999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Mixture of Experts: 2026년 </a:t>
            </a:r>
            <a:r>
              <a:rPr lang="en-US" sz="3400" b="1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AI를</a:t>
            </a:r>
            <a:r>
              <a:rPr lang="en-US" sz="3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지배하는</a:t>
            </a:r>
            <a:r>
              <a:rPr lang="en-US" sz="3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아키텍처</a:t>
            </a:r>
            <a:endParaRPr lang="en-US" sz="3400" b="1" dirty="0"/>
          </a:p>
        </p:txBody>
      </p:sp>
      <p:sp>
        <p:nvSpPr>
          <p:cNvPr id="4" name="Text 1"/>
          <p:cNvSpPr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원리 · 과제 · 최신 기술 · AWS 활용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5212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Hyunsoo Kim, Ph.D.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31519" y="5577840"/>
            <a:ext cx="52566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Senior GTM GenAI SSA, Amazon Web Services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8" name="Image 1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Dense의 벽 → MoE의 돌파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414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Dense 모델의 한계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모든 파라미터가 모든 토큰에 활성화
•  70B→700B 스케일링 시 연산 10배 증가
•  학습/추론 비용이 파라미터에 비례
•  단일 GPU 한계 빠르게 도달
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</a:t>
            </a:r>
            <a:r>
              <a:rPr lang="ko-KR" altLang="en-US" b="1" dirty="0" err="1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를</a:t>
            </a:r>
            <a:r>
              <a:rPr lang="ko-KR" altLang="en-US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통한 한계 극복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192024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토큰당 소수 Expert만 활성화 (Top-K)
•  671B 파라미터, 37B만 연산 (5.5%)
•  모델 용량과 연산량을 분리
•  큰 지식, 작은 비용 동시 달성
</a:t>
            </a:r>
            <a:endParaRPr lang="en-US" sz="1400" dirty="0"/>
          </a:p>
        </p:txBody>
      </p:sp>
      <p:pic>
        <p:nvPicPr>
          <p:cNvPr id="12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 아키텍처 해부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324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00627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입력 토큰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2651760"/>
            <a:ext cx="731520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9" name="Shape 7"/>
          <p:cNvSpPr/>
          <p:nvPr/>
        </p:nvSpPr>
        <p:spPr>
          <a:xfrm>
            <a:off x="3657600" y="22860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6B4BC6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0" name="Text 8"/>
          <p:cNvSpPr/>
          <p:nvPr/>
        </p:nvSpPr>
        <p:spPr>
          <a:xfrm>
            <a:off x="3657600" y="2286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Router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(Gate)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60720" y="2651760"/>
            <a:ext cx="731520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2" name="Shape 10"/>
          <p:cNvSpPr/>
          <p:nvPr/>
        </p:nvSpPr>
        <p:spPr>
          <a:xfrm>
            <a:off x="6583680" y="1155269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3" name="Text 11"/>
          <p:cNvSpPr/>
          <p:nvPr/>
        </p:nvSpPr>
        <p:spPr>
          <a:xfrm>
            <a:off x="6583680" y="1155269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2 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2326146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5" name="Text 13"/>
          <p:cNvSpPr/>
          <p:nvPr/>
        </p:nvSpPr>
        <p:spPr>
          <a:xfrm>
            <a:off x="6583680" y="2326146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7 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430116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7" name="Text 15"/>
          <p:cNvSpPr/>
          <p:nvPr/>
        </p:nvSpPr>
        <p:spPr>
          <a:xfrm>
            <a:off x="6583680" y="3430116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0A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N (비활성)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0" y="2651760"/>
            <a:ext cx="731520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9" name="Shape 17"/>
          <p:cNvSpPr/>
          <p:nvPr/>
        </p:nvSpPr>
        <p:spPr>
          <a:xfrm>
            <a:off x="9509760" y="22860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0" name="Text 18"/>
          <p:cNvSpPr/>
          <p:nvPr/>
        </p:nvSpPr>
        <p:spPr>
          <a:xfrm>
            <a:off x="950976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가중 합산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→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57200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① Expert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독립 FFN, 64~256개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0" y="457200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5" name="Text 23"/>
          <p:cNvSpPr/>
          <p:nvPr/>
        </p:nvSpPr>
        <p:spPr>
          <a:xfrm>
            <a:off x="466344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② Router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Top-K 선택 (보통 1~2개)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63840" y="457200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8" name="Text 26"/>
          <p:cNvSpPr/>
          <p:nvPr/>
        </p:nvSpPr>
        <p:spPr>
          <a:xfrm>
            <a:off x="813816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③ Sparse Activation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3816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전체의 0.8~15%만 활성</a:t>
            </a:r>
            <a:endParaRPr lang="en-US" sz="1400" dirty="0"/>
          </a:p>
        </p:txBody>
      </p:sp>
      <p:pic>
        <p:nvPicPr>
          <p:cNvPr id="30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AFA817B7-415D-41A5-BB54-ABFA0186DEB1}"/>
              </a:ext>
            </a:extLst>
          </p:cNvPr>
          <p:cNvSpPr/>
          <p:nvPr/>
        </p:nvSpPr>
        <p:spPr>
          <a:xfrm>
            <a:off x="6583680" y="240869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E8F1999A-9724-F1A0-7C16-33448095BC1C}"/>
              </a:ext>
            </a:extLst>
          </p:cNvPr>
          <p:cNvSpPr/>
          <p:nvPr/>
        </p:nvSpPr>
        <p:spPr>
          <a:xfrm>
            <a:off x="6583680" y="240869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</a:t>
            </a:r>
            <a:r>
              <a:rPr lang="en-US" altLang="ko-KR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</a:t>
            </a: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✓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B53D0F-7B85-4273-0E8B-655B735FF759}"/>
              </a:ext>
            </a:extLst>
          </p:cNvPr>
          <p:cNvSpPr txBox="1"/>
          <p:nvPr/>
        </p:nvSpPr>
        <p:spPr>
          <a:xfrm rot="5400000">
            <a:off x="7448478" y="1838726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</a:rPr>
              <a:t>…</a:t>
            </a:r>
            <a:endParaRPr lang="en-KR" sz="2800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EAB540-AD61-431D-5F14-D241C481E471}"/>
              </a:ext>
            </a:extLst>
          </p:cNvPr>
          <p:cNvSpPr txBox="1"/>
          <p:nvPr/>
        </p:nvSpPr>
        <p:spPr>
          <a:xfrm rot="5400000">
            <a:off x="7448478" y="2972246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</a:rPr>
              <a:t>…</a:t>
            </a:r>
            <a:endParaRPr lang="en-KR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숫자로 보는 MoE의 위력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378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solidFill>
            <a:srgbClr val="00627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모델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총 파라미터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활성 파라미터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활성 비율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1737360"/>
            <a:ext cx="10515600" cy="594360"/>
          </a:xfrm>
          <a:prstGeom prst="rect">
            <a:avLst/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3" name="Text 11"/>
          <p:cNvSpPr/>
          <p:nvPr/>
        </p:nvSpPr>
        <p:spPr>
          <a:xfrm>
            <a:off x="731520" y="17373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DeepSeek-V4-Pro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17373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1.6T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49B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17373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3%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0" y="17373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256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2377440"/>
            <a:ext cx="10515600" cy="59436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9" name="Text 17"/>
          <p:cNvSpPr/>
          <p:nvPr/>
        </p:nvSpPr>
        <p:spPr>
          <a:xfrm>
            <a:off x="7315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Llama 4 Maverick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3464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400B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17B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4.3%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128+1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017520"/>
            <a:ext cx="10515600" cy="594360"/>
          </a:xfrm>
          <a:prstGeom prst="rect">
            <a:avLst/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5" name="Text 23"/>
          <p:cNvSpPr/>
          <p:nvPr/>
        </p:nvSpPr>
        <p:spPr>
          <a:xfrm>
            <a:off x="731520" y="3017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Qwen3-235B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34640" y="3017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235B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017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22B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3017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9.4%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0" y="3017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128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3657600"/>
            <a:ext cx="10515600" cy="59436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31" name="Text 29"/>
          <p:cNvSpPr/>
          <p:nvPr/>
        </p:nvSpPr>
        <p:spPr>
          <a:xfrm>
            <a:off x="731520" y="3657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Mistral Large 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834640" y="3657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675B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3657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41B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3657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6%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0" y="3657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-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1520" y="4297680"/>
            <a:ext cx="10515600" cy="594360"/>
          </a:xfrm>
          <a:prstGeom prst="rect">
            <a:avLst/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37" name="Text 35"/>
          <p:cNvSpPr/>
          <p:nvPr/>
        </p:nvSpPr>
        <p:spPr>
          <a:xfrm>
            <a:off x="731520" y="42976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Kimi K2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834640" y="42976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~1T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937760" y="42976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~32B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42976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3.2%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0" y="42976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-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핵심: 총 파라미터는 "지식의 크기", 활성 파라미터는 "토큰당 비용"</a:t>
            </a:r>
            <a:endParaRPr lang="en-US" sz="1600" dirty="0"/>
          </a:p>
        </p:txBody>
      </p:sp>
      <p:pic>
        <p:nvPicPr>
          <p:cNvPr id="43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MoE의 6가지 핵심 과제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360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7" name="Text 5"/>
          <p:cNvSpPr/>
          <p:nvPr/>
        </p:nvSpPr>
        <p:spPr>
          <a:xfrm>
            <a:off x="7828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4622" y="1383867"/>
            <a:ext cx="2197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로드 불균형 &amp; Expert Collapse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소수 Expert에 토큰 </a:t>
            </a:r>
            <a:r>
              <a:rPr lang="en-US" sz="1400" dirty="0" err="1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집중</a:t>
            </a: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b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</a:b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→ 나머지 사망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18872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11" name="Text 9"/>
          <p:cNvSpPr/>
          <p:nvPr/>
        </p:nvSpPr>
        <p:spPr>
          <a:xfrm>
            <a:off x="43032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5062" y="1383867"/>
            <a:ext cx="2197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학습 불안정성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2628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라우터-Expert 동시 학습의 간섭, RL 시 붕괴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118872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15" name="Text 13"/>
          <p:cNvSpPr/>
          <p:nvPr/>
        </p:nvSpPr>
        <p:spPr>
          <a:xfrm>
            <a:off x="78237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25502" y="1383867"/>
            <a:ext cx="2197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독립성의 한계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4672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병렬 처리로 Expert 간 협력 불가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19" name="Text 17"/>
          <p:cNvSpPr/>
          <p:nvPr/>
        </p:nvSpPr>
        <p:spPr>
          <a:xfrm>
            <a:off x="7828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4622" y="3852747"/>
            <a:ext cx="2197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추론 시 메모리 문제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05840" y="4572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활성 5%인데 전체 100%를 메모리에 상주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51960" y="365760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23" name="Text 21"/>
          <p:cNvSpPr/>
          <p:nvPr/>
        </p:nvSpPr>
        <p:spPr>
          <a:xfrm>
            <a:off x="430326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⑤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05062" y="3852747"/>
            <a:ext cx="2197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파인튜닝 비효율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26280" y="4572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Cold Expert에도 adapter를 붙이는 낭비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0" y="365760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27" name="Text 25"/>
          <p:cNvSpPr/>
          <p:nvPr/>
        </p:nvSpPr>
        <p:spPr>
          <a:xfrm>
            <a:off x="78237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⑥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325502" y="3852747"/>
            <a:ext cx="2197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분산 학습 복잡성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046720" y="4572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All-to-all 통신 + 메모리 + </a:t>
            </a:r>
            <a:b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</a:br>
            <a:r>
              <a:rPr lang="en-US" sz="1400" dirty="0" err="1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연산</a:t>
            </a: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3중 제약</a:t>
            </a:r>
            <a:endParaRPr lang="en-US" sz="1400" dirty="0"/>
          </a:p>
        </p:txBody>
      </p:sp>
      <p:pic>
        <p:nvPicPr>
          <p:cNvPr id="30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과제 ① 로드 불균형: Auxiliary Loss의 딜레마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648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양의 피드백 루프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Expert A가 우연히 좋은 결과
•  라우터가 A에 더 많은 토큰 배정
•  A가 더 잘 학습됨 → 더 선호
•  나머지 Expert는 학습 기회 상실
•  결국 소수만 생존 (Expert Collapse)
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Auxiliary Loss의 딜레마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192024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해결책: "균등 배분" 강제하는 보조 손실
•  문제: 메인 gradient에 간섭
•  라우터의 최적 배정을 방해
•  너무 크면 → 전문화 실패
•  너무 작으면 → 불균형 해결 안됨
•  적절한 값 찾기 어려움
</a:t>
            </a:r>
            <a:endParaRPr lang="en-US" sz="1400" dirty="0"/>
          </a:p>
        </p:txBody>
      </p:sp>
      <p:pic>
        <p:nvPicPr>
          <p:cNvPr id="12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해결: Auxiliary-Loss-Free Load Balancing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594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DeepSeek-V3 (2024) → V4 (2026) | 현재 업계 표준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515600" cy="2011680"/>
          </a:xfrm>
          <a:prstGeom prst="roundRect">
            <a:avLst>
              <a:gd name="adj" fmla="val 5455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핵심 아이디어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각 Expert에 bias term 1개 추가 (gradient로 학습하지 않음)
•  과부하 Expert → bias 낮춤 / 저활용 Expert → bias 높임
•  메인 학습 gradient와 완전 분리 → 라우터 본업 방해 없음
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1" name="Text 9"/>
          <p:cNvSpPr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왜 작동하는가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온도 조절기처럼 작동
•  방 안의 일(Expert 학습)에 간섭 없이
•  방의 온도(토큰 수)만 조절
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374904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4" name="Text 12"/>
          <p:cNvSpPr/>
          <p:nvPr/>
        </p:nvSpPr>
        <p:spPr>
          <a:xfrm>
            <a:off x="667512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성과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429768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Auxiliary loss 대비 모델 성능 향상
•  완벽한 로드 밸런싱 동시 달성
•  DeepSeek-V3 이후 업계 표준화
</a:t>
            </a:r>
            <a:endParaRPr lang="en-US" sz="1600" dirty="0"/>
          </a:p>
        </p:txBody>
      </p:sp>
      <p:pic>
        <p:nvPicPr>
          <p:cNvPr id="16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과제 ② 학습 불안정: Collapse 문제들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540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Representational Collapse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서로 다른 Expert가 동일한 출력
•  256개 Expert ≈ 실질 10개
•  원인: 비슷한 초기값 + 비슷한 데이터
•  gradient도 비슷 → 같은 방향 수렴
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0" name="Text 8"/>
          <p:cNvSpPr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RL 학습 시 붕괴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192024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RLHF 시 라우팅이 급변
•  어제 Expert 3 → 오늘 Expert 7
•  이전 정책과 현재 정책의 괴리 폭발
•  Gradient 분산 폭발 → 학습 발산
•  Catastrophic collapse 발생
</a:t>
            </a:r>
            <a:endParaRPr lang="en-US" sz="1600" dirty="0"/>
          </a:p>
        </p:txBody>
      </p:sp>
      <p:pic>
        <p:nvPicPr>
          <p:cNvPr id="12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해결: SimSMoE + Router-Aware 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504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NAACL 2025 / arXiv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SimSMoE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Expert 쌍의 출력 코사인 유사도 측정
•  유사도 높으면 → 페널티 부여
•  Expert들을 "서로 밀어내는" 효과
•  각 Expert가 다른 표현 공간 담당
•  Auxiliary loss와 목표 자체가 다름
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1" name="Text 9"/>
          <p:cNvSpPr/>
          <p:nvPr/>
        </p:nvSpPr>
        <p:spPr>
          <a:xfrm>
            <a:off x="667512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Router-Aware IS (RL 안정화)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92024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IS 가중치에 라우터 logit 반영
•  라우팅 크게 바뀐 토큰 → 가중치 축소
•  라우팅 유지된 토큰 → 정상 적용
•  라우팅 변경의 급격한 gradient 억제
•  MoE RLHF catastrophic collapse 방지
</a:t>
            </a:r>
            <a:endParaRPr lang="en-US" sz="1600" dirty="0"/>
          </a:p>
        </p:txBody>
      </p:sp>
      <p:pic>
        <p:nvPicPr>
          <p:cNvPr id="13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과제 ③ Expert 독립성: 병렬 처리의 한계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576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기존 MoE: Expert들이 서로의 존재를 모른다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515600" cy="2286000"/>
          </a:xfrm>
          <a:prstGeom prst="roundRect">
            <a:avLst>
              <a:gd name="adj" fmla="val 48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A0A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기존 방식 (병렬 독립)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토큰 X → Expert 2가 처리 → 출력 A
•  토큰 X → Expert 7이 처리 → 출력 B (A를 모름)
•  최종 = 0.6×A + 0.4×B (단순 가중합)
•  Expert 간 정보 교환 없음
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1" name="Text 9"/>
          <p:cNvSpPr/>
          <p:nvPr/>
        </p:nvSpPr>
        <p:spPr>
          <a:xfrm>
            <a:off x="10058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결과적 한계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6634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복잡한 추론(수학, 다단계 코딩)에서 Expert 협력 불가
•  유효 깊이(effective depth) 제한
•  Expert 조합 다양성 = C(N,K)로 제한
</a:t>
            </a:r>
            <a:endParaRPr lang="en-US" sz="1600" dirty="0"/>
          </a:p>
        </p:txBody>
      </p:sp>
      <p:pic>
        <p:nvPicPr>
          <p:cNvPr id="13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해결: Chain-of-Experts (CoE)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432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2026 | Northwestern / Oxford | arXiv:2506.18945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00627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토큰 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2103120"/>
            <a:ext cx="457200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0" name="Shape 8"/>
          <p:cNvSpPr/>
          <p:nvPr/>
        </p:nvSpPr>
        <p:spPr>
          <a:xfrm>
            <a:off x="3017520" y="18288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6B4BC6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1" name="Text 9"/>
          <p:cNvSpPr/>
          <p:nvPr/>
        </p:nvSpPr>
        <p:spPr>
          <a:xfrm>
            <a:off x="30175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Router 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457200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3" name="Shape 11"/>
          <p:cNvSpPr/>
          <p:nvPr/>
        </p:nvSpPr>
        <p:spPr>
          <a:xfrm>
            <a:off x="5303520" y="18288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4" name="Text 12"/>
          <p:cNvSpPr/>
          <p:nvPr/>
        </p:nvSpPr>
        <p:spPr>
          <a:xfrm>
            <a:off x="53035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2103120"/>
            <a:ext cx="457200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6" name="Shape 14"/>
          <p:cNvSpPr/>
          <p:nvPr/>
        </p:nvSpPr>
        <p:spPr>
          <a:xfrm>
            <a:off x="7589520" y="18288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6B4BC6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7" name="Text 15"/>
          <p:cNvSpPr/>
          <p:nvPr/>
        </p:nvSpPr>
        <p:spPr>
          <a:xfrm>
            <a:off x="75895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Router ②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(X' 기반)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326880" y="2103120"/>
            <a:ext cx="457200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9" name="Shape 17"/>
          <p:cNvSpPr/>
          <p:nvPr/>
        </p:nvSpPr>
        <p:spPr>
          <a:xfrm>
            <a:off x="9875520" y="18288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0" name="Text 18"/>
          <p:cNvSpPr/>
          <p:nvPr/>
        </p:nvSpPr>
        <p:spPr>
          <a:xfrm>
            <a:off x="98755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2834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핵심: Expert 7은 Expert 2의 출력(X')을 입력으로 받음 → 순차 협력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38328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3" name="Text 21"/>
          <p:cNvSpPr/>
          <p:nvPr/>
        </p:nvSpPr>
        <p:spPr>
          <a:xfrm>
            <a:off x="100584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조합 다양성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823×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10058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C(64,4)² vs C(64,8)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06240" y="338328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7" name="Text 25"/>
          <p:cNvSpPr/>
          <p:nvPr/>
        </p:nvSpPr>
        <p:spPr>
          <a:xfrm>
            <a:off x="448056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메모리 절감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42%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448056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12L MoE = 4L CoE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80960" y="338328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31" name="Text 29"/>
          <p:cNvSpPr/>
          <p:nvPr/>
        </p:nvSpPr>
        <p:spPr>
          <a:xfrm>
            <a:off x="79552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Loss 개선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95528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1.20→1.12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795528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동일 연산량 기준</a:t>
            </a:r>
            <a:endParaRPr lang="en-US" sz="1200" dirty="0"/>
          </a:p>
        </p:txBody>
      </p:sp>
      <p:pic>
        <p:nvPicPr>
          <p:cNvPr id="34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발견: Super Experts (ICLR 2026)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468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수천 개 Expert 중 3~10개가 모델의 생존을 결정한다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발견 내용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극소수 Expert가 극단적 활성화 outlier 생성
•  다른 Expert: -1~+1 범위
•  Super Expert: -100~+100 범위
•  Qwen3-30B: 6,144개 중 3개 제거 → 모델 붕괴
•  일반 Expert 수십 개 제거 → 영향 미미
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1" name="Text 9"/>
          <p:cNvSpPr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실용적 의미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프루닝: Super Expert 반드시 보존
•  양자화: Super Expert는 높은 정밀도 유지
•  압축 전략 전면 재설계 필요
•  레이어 간 정보 흐름의 "앵커" 역할
•  Attention sink과 유사한 메커니즘
</a:t>
            </a:r>
            <a:endParaRPr lang="en-US" sz="1600" dirty="0"/>
          </a:p>
        </p:txBody>
      </p:sp>
      <p:pic>
        <p:nvPicPr>
          <p:cNvPr id="13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과제 ④ 추론 메모리: 1.3TB의 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468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DeepSeek-V3 (671B) 추론 시나리오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FP16 기준 ~1.3TB 메모리 필요
•  H100 GPU 1장 = 80GB → 최소 16장 필요
•  토큰당 활성 Expert = 전체의 5% 미만
•  나머지 95%는 "혹시 호출될까 봐" 대기 중
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5029200" cy="2651760"/>
          </a:xfrm>
          <a:prstGeom prst="roundRect">
            <a:avLst>
              <a:gd name="adj" fmla="val 4138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Offloading의 아이디어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비활성 Expert를 CPU DRAM으로 이동
•  호출 시에만 GPU로 로드
•  GPU에는 자주 쓰이는 Expert만 상주
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3291840"/>
            <a:ext cx="5029200" cy="2651760"/>
          </a:xfrm>
          <a:prstGeom prst="roundRect">
            <a:avLst>
              <a:gd name="adj" fmla="val 4138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3" name="Text 11"/>
          <p:cNvSpPr/>
          <p:nvPr/>
        </p:nvSpPr>
        <p:spPr>
          <a:xfrm>
            <a:off x="667512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병목: CPU→GPU 대역폭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384048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PCIe 4.0 ≈ 32GB/s
•  Expert 1개 = 수백 MB → 수~수십 ms
•  토큰 생성은 ms 단위 필요
•  매번 전송하면 추론 극도로 느림
</a:t>
            </a:r>
            <a:endParaRPr lang="en-US" sz="1600" dirty="0"/>
          </a:p>
        </p:txBody>
      </p:sp>
      <p:pic>
        <p:nvPicPr>
          <p:cNvPr id="15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해결: Predictive Expert Caching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468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arXiv:2410.17954 (2025)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6858000" cy="3200400"/>
          </a:xfrm>
          <a:prstGeom prst="roundRect">
            <a:avLst>
              <a:gd name="adj" fmla="val 3429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작동 방식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핵심 관찰: 레이어 N 패턴 → N+1 예측 가능
•  레이어 N 연산 중 → N+1 Expert 예측
•  비동기로 CPU→GPU 프리페치 (연산과 동시)
•  N+1 시작 시 Expert 이미 GPU에 존재
•  예측 실패 시에만 동기 전송 (캐시 미스)
•  Token Scheduling: 같은 Expert 쓰는 토큰 묶어 처리
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0" y="13716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1" name="Text 9"/>
          <p:cNvSpPr/>
          <p:nvPr/>
        </p:nvSpPr>
        <p:spPr>
          <a:xfrm>
            <a:off x="813816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성과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38160" y="2011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93.7%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13816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A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GPU 메모리 절감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10×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13816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A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추론 처리량 향상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소비자 GPU (RTX 4090 24GB)에서도 수백B MoE 모델 실행 가능</a:t>
            </a:r>
            <a:endParaRPr lang="en-US" sz="1600" dirty="0"/>
          </a:p>
        </p:txBody>
      </p:sp>
      <p:pic>
        <p:nvPicPr>
          <p:cNvPr id="17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과제 ⑤ 해결: MoE-Sieve (Routing-Guided LoRA)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02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arXiv:2603.24044 (2026)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Shape 6"/>
          <p:cNvSpPr/>
          <p:nvPr/>
        </p:nvSpPr>
        <p:spPr>
          <a:xfrm>
            <a:off x="1005840" y="1554480"/>
            <a:ext cx="457200" cy="457200"/>
          </a:xfrm>
          <a:prstGeom prst="ellipse">
            <a:avLst/>
          </a:prstGeom>
          <a:solidFill>
            <a:srgbClr val="00627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Profile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281902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타겟 데이터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일부를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r>
              <a:rPr lang="ko-KR" alt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 </a:t>
            </a:r>
            <a:br>
              <a:rPr lang="en-US" altLang="ko-KR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</a:br>
            <a:r>
              <a:rPr lang="ko-KR" alt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   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forward pass
•  레이어별 Expert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활성화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b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</a:br>
            <a:r>
              <a:rPr lang="ko-KR" alt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 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빈도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기록
•  전체 시간의 1% 미만
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3" name="Shape 11"/>
          <p:cNvSpPr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rgbClr val="6B4BC6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4" name="Text 12"/>
          <p:cNvSpPr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Select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80560" y="2194560"/>
            <a:ext cx="274543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상위 25% = Hot Expert
•  하위 75% = Cold Expert
•  Cold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Expert는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파인튜닝</a:t>
            </a:r>
            <a:r>
              <a:rPr lang="ko-KR" alt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br>
              <a:rPr lang="en-US" altLang="ko-KR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</a:br>
            <a:r>
              <a:rPr lang="ko-KR" alt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 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제외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
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0" y="137160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8" name="Shape 16"/>
          <p:cNvSpPr/>
          <p:nvPr/>
        </p:nvSpPr>
        <p:spPr>
          <a:xfrm>
            <a:off x="7955280" y="1554480"/>
            <a:ext cx="457200" cy="457200"/>
          </a:xfrm>
          <a:prstGeom prst="ellipse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9" name="Text 17"/>
          <p:cNvSpPr/>
          <p:nvPr/>
        </p:nvSpPr>
        <p:spPr>
          <a:xfrm>
            <a:off x="79552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0392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Fine-tune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55280" y="21945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Hot Expert에만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LoRA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적용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
•  Cold Expert는 동결
•  Full LoRA와 동등 성능
•  메모리 75% 절감
</a:t>
            </a:r>
            <a:endParaRPr lang="en-US" sz="1600" dirty="0"/>
          </a:p>
        </p:txBody>
      </p:sp>
      <p:pic>
        <p:nvPicPr>
          <p:cNvPr id="22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과제 ⑥ 분산 학습: All-to-all 통신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486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7" name="Shape 5"/>
          <p:cNvSpPr/>
          <p:nvPr/>
        </p:nvSpPr>
        <p:spPr>
          <a:xfrm>
            <a:off x="1371600" y="1371600"/>
            <a:ext cx="73152" cy="137160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895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GPU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1,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1" name="Shape 9"/>
          <p:cNvSpPr/>
          <p:nvPr/>
        </p:nvSpPr>
        <p:spPr>
          <a:xfrm>
            <a:off x="3931920" y="1371600"/>
            <a:ext cx="73152" cy="1371600"/>
          </a:xfrm>
          <a:prstGeom prst="rect">
            <a:avLst/>
          </a:prstGeom>
          <a:solidFill>
            <a:srgbClr val="00627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2" name="Text 10"/>
          <p:cNvSpPr/>
          <p:nvPr/>
        </p:nvSpPr>
        <p:spPr>
          <a:xfrm>
            <a:off x="411480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7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GPU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3,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5" name="Shape 13"/>
          <p:cNvSpPr/>
          <p:nvPr/>
        </p:nvSpPr>
        <p:spPr>
          <a:xfrm>
            <a:off x="6492240" y="1371600"/>
            <a:ext cx="73152" cy="1371600"/>
          </a:xfrm>
          <a:prstGeom prst="rect">
            <a:avLst/>
          </a:prstGeom>
          <a:solidFill>
            <a:srgbClr val="6B4BC6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6" name="Text 14"/>
          <p:cNvSpPr/>
          <p:nvPr/>
        </p:nvSpPr>
        <p:spPr>
          <a:xfrm>
            <a:off x="667512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BC6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GPU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5, 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5256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9" name="Shape 17"/>
          <p:cNvSpPr/>
          <p:nvPr/>
        </p:nvSpPr>
        <p:spPr>
          <a:xfrm>
            <a:off x="9052560" y="1371600"/>
            <a:ext cx="73152" cy="13716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0" name="Text 18"/>
          <p:cNvSpPr/>
          <p:nvPr/>
        </p:nvSpPr>
        <p:spPr>
          <a:xfrm>
            <a:off x="923544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GPU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3544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7, 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2926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← All-to-all 통신: 모든 GPU가 모든 GPU에게 토큰 전송 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474720"/>
            <a:ext cx="10515600" cy="2560320"/>
          </a:xfrm>
          <a:prstGeom prst="roundRect">
            <a:avLst>
              <a:gd name="adj" fmla="val 4286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4" name="Text 22"/>
          <p:cNvSpPr/>
          <p:nvPr/>
        </p:nvSpPr>
        <p:spPr>
          <a:xfrm>
            <a:off x="1005840" y="3611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3중 제약의 결합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0233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메모리: GPU당 올릴 수 있는 Expert 수 제한
•  통신: GPU 간 토큰 이동 대역폭 제한 (통신량 ∝ GPU²)
•  연산: 불균형 배치 → 특정 GPU 과부하 → tail latency
•  세 가지가 서로 얽혀 하나 최적화 시 다른 것 악화
</a:t>
            </a:r>
            <a:endParaRPr lang="en-US" sz="1600" dirty="0"/>
          </a:p>
        </p:txBody>
      </p:sp>
      <p:pic>
        <p:nvPicPr>
          <p:cNvPr id="26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해결: Megatron Core MoE + FSMoE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504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NVIDIA (2026) arXiv:2603.07685 / arXiv:2501.10714 (2025)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Megatron Core MoE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결합 제약을 시스템 수준에서 모델링
•  Expert 배치 최적화 (co-activation 기반)
•  통신-연산 오버랩 (파이프라인)
•  동적 부하 분산 (주기적 재조정)
•  DeepSeek-V4급 (1.6T) 수천 GPU 학습
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1" name="Text 9"/>
          <p:cNvSpPr/>
          <p:nvPr/>
        </p:nvSpPr>
        <p:spPr>
          <a:xfrm>
            <a:off x="667512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FSMoE (4모듈 추상화)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92024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Token Routing 모듈
•  Token Communication 모듈
•  Expert Computation 모듈
•  Expert Parallelism 모듈
•  온라인 프로파일링 → 병목 식별 →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자동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최적화
•  새 MoE 아키텍처에도 재사용 가능
</a:t>
            </a:r>
            <a:endParaRPr lang="en-US" sz="1600" dirty="0"/>
          </a:p>
        </p:txBody>
      </p:sp>
      <p:pic>
        <p:nvPicPr>
          <p:cNvPr id="13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48640"/>
            <a:ext cx="585216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AWS에서 MoE 활용하기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사용 · 파인튜닝 · 학습 · 인프라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4297680"/>
            <a:ext cx="128016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6" name="Image 1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목적별 MoE 활용 경로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342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7" name="Shape 5"/>
          <p:cNvSpPr/>
          <p:nvPr/>
        </p:nvSpPr>
        <p:spPr>
          <a:xfrm>
            <a:off x="1005840" y="1974879"/>
            <a:ext cx="1440000" cy="32004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 모델 사용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Amazon Bedrock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API 호출만으로 MoE 추론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인프라 관리 불필요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토큰당 과금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1188720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2" name="Shape 10"/>
          <p:cNvSpPr/>
          <p:nvPr/>
        </p:nvSpPr>
        <p:spPr>
          <a:xfrm>
            <a:off x="4526280" y="1974879"/>
            <a:ext cx="1440000" cy="32004"/>
          </a:xfrm>
          <a:prstGeom prst="rect">
            <a:avLst/>
          </a:prstGeom>
          <a:solidFill>
            <a:srgbClr val="6B4BC6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3" name="Text 11"/>
          <p:cNvSpPr/>
          <p:nvPr/>
        </p:nvSpPr>
        <p:spPr>
          <a:xfrm>
            <a:off x="452628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 파인튜닝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SageMaker AI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2743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Multi-LoRA on MoE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Expert별 선택적 adapter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Custom Model Import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1188720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7" name="Shape 15"/>
          <p:cNvSpPr/>
          <p:nvPr/>
        </p:nvSpPr>
        <p:spPr>
          <a:xfrm>
            <a:off x="8046720" y="1974879"/>
            <a:ext cx="1440000" cy="32004"/>
          </a:xfrm>
          <a:prstGeom prst="rect">
            <a:avLst/>
          </a:prstGeom>
          <a:solidFill>
            <a:srgbClr val="00627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8" name="Text 16"/>
          <p:cNvSpPr/>
          <p:nvPr/>
        </p:nvSpPr>
        <p:spPr>
          <a:xfrm>
            <a:off x="80467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 학습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SageMaker + Trn3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46720" y="2743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 Parallelism (SMP v2)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4D 병렬화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Trainium3 최적화 칩</a:t>
            </a:r>
            <a:endParaRPr lang="en-US" sz="1400" dirty="0"/>
          </a:p>
        </p:txBody>
      </p:sp>
      <p:pic>
        <p:nvPicPr>
          <p:cNvPr id="21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Amazon Bedrock: 서버리스 MoE 추론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540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MoE의 메모리 문제를 완전히 추상화 — 활성 파라미터 기준 과금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solidFill>
            <a:srgbClr val="00627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모델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출시일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총/활성 파라미터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1554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용도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10515600" cy="502920"/>
          </a:xfrm>
          <a:prstGeom prst="rect">
            <a:avLst/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3" name="Text 11"/>
          <p:cNvSpPr/>
          <p:nvPr/>
        </p:nvSpPr>
        <p:spPr>
          <a:xfrm>
            <a:off x="73152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DeepSeek-R1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2025.03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671B / 37B active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추론, 수학, 코딩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514600"/>
            <a:ext cx="10515600" cy="5029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8" name="Text 16"/>
          <p:cNvSpPr/>
          <p:nvPr/>
        </p:nvSpPr>
        <p:spPr>
          <a:xfrm>
            <a:off x="73152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Llama 4 Maverick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2025.04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514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400B / 17B active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멀티모달, 장문맥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3" name="Text 21"/>
          <p:cNvSpPr/>
          <p:nvPr/>
        </p:nvSpPr>
        <p:spPr>
          <a:xfrm>
            <a:off x="73152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Mistral Large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063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2025.12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3063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675B / 41B active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코딩, 256K 컨텍스트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611880"/>
            <a:ext cx="10515600" cy="5029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8" name="Text 26"/>
          <p:cNvSpPr/>
          <p:nvPr/>
        </p:nvSpPr>
        <p:spPr>
          <a:xfrm>
            <a:off x="731520" y="3611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Mixtral 8x7B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2024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611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46.7B / 12.9B active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03920" y="3611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비용 효율 범용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411480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33" name="Text 31"/>
          <p:cNvSpPr/>
          <p:nvPr/>
        </p:nvSpPr>
        <p:spPr>
          <a:xfrm>
            <a:off x="100584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핵심 가치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" y="4663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671B 모델을 GPU 없이 API 호출로 사용
•  1.3TB 메모리 문제를 서버리스로 완전 추상화
•  활성 파라미터 기준 과금 = MoE의 비용 이점 그대로 전달
</a:t>
            </a:r>
            <a:endParaRPr lang="en-US" sz="1600" dirty="0"/>
          </a:p>
        </p:txBody>
      </p:sp>
      <p:pic>
        <p:nvPicPr>
          <p:cNvPr id="35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SageMaker: Multi-LoRA on MoE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468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2026.02 출시 | vLLM 기반 | GPT-OSS 20B, Qwen3-MoE 실증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아키텍처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1개 MoE 기본 모델 GPU에 로드
•  여러 LoRA adapter를 메모리에 상주
•  요청별로 해당 adapter swap-in
•  Expert별 선택적 adapter 적용 가능
•  MoE-Sieve 방식과 호환
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1" name="Text 9"/>
          <p:cNvSpPr/>
          <p:nvPr/>
        </p:nvSpPr>
        <p:spPr>
          <a:xfrm>
            <a:off x="667512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효과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5개 → 1개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675120" y="2743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A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5개 고객 모델을 1 GPU에서 서빙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320040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GPU 활용률 10% → 80%+
•  커스텀 모델 서빙 비용 5배 절감
•  adapter만 swap하므로 전환 지연 최소
</a:t>
            </a:r>
            <a:endParaRPr lang="en-US" sz="1600" dirty="0"/>
          </a:p>
        </p:txBody>
      </p:sp>
      <p:pic>
        <p:nvPicPr>
          <p:cNvPr id="15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SageMaker: Expert Parallelism (SMP v2)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612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2024.05 출시 | 4D 병렬화로 조 단위 파라미터 MoE 학습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Shape 6"/>
          <p:cNvSpPr/>
          <p:nvPr/>
        </p:nvSpPr>
        <p:spPr>
          <a:xfrm>
            <a:off x="914400" y="2368517"/>
            <a:ext cx="144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Parallelism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Expert를 GPU 간 분산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1371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2" name="Shape 10"/>
          <p:cNvSpPr/>
          <p:nvPr/>
        </p:nvSpPr>
        <p:spPr>
          <a:xfrm>
            <a:off x="3657600" y="2368517"/>
            <a:ext cx="1440000" cy="27432"/>
          </a:xfrm>
          <a:prstGeom prst="rect">
            <a:avLst/>
          </a:prstGeom>
          <a:solidFill>
            <a:srgbClr val="00627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3" name="Text 11"/>
          <p:cNvSpPr/>
          <p:nvPr/>
        </p:nvSpPr>
        <p:spPr>
          <a:xfrm>
            <a:off x="365760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Tensor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Parallelism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레이어 내부를 GPU 간 분할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6" name="Shape 14"/>
          <p:cNvSpPr/>
          <p:nvPr/>
        </p:nvSpPr>
        <p:spPr>
          <a:xfrm>
            <a:off x="6400800" y="2368517"/>
            <a:ext cx="1440000" cy="27432"/>
          </a:xfrm>
          <a:prstGeom prst="rect">
            <a:avLst/>
          </a:prstGeom>
          <a:solidFill>
            <a:srgbClr val="6B4BC6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7" name="Text 15"/>
          <p:cNvSpPr/>
          <p:nvPr/>
        </p:nvSpPr>
        <p:spPr>
          <a:xfrm>
            <a:off x="640080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Pipeline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Parallelism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레이어를 순차 분할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61120" y="1371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0" name="Shape 18"/>
          <p:cNvSpPr/>
          <p:nvPr/>
        </p:nvSpPr>
        <p:spPr>
          <a:xfrm>
            <a:off x="9144000" y="2368517"/>
            <a:ext cx="1440000" cy="274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1" name="Text 19"/>
          <p:cNvSpPr/>
          <p:nvPr/>
        </p:nvSpPr>
        <p:spPr>
          <a:xfrm>
            <a:off x="914400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Data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Parallelism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데이터를 GPU 간 분할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93192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4" name="Text 22"/>
          <p:cNvSpPr/>
          <p:nvPr/>
        </p:nvSpPr>
        <p:spPr>
          <a:xfrm>
            <a:off x="1005840" y="4069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실전 구성 예시: Mixtral 8x7B 사전학습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4805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32x p5.48xlarge (256 H100 GPU)
•  EP=8 (Expert 8개를 8 GPU에 분산) + TP=4 + DP=8
•  SMP v2 API로 PyTorch 코드 최소 수정
•  EFA 400Gbps로 all-to-all 통신 가속
</a:t>
            </a:r>
            <a:endParaRPr lang="en-US" sz="1600" dirty="0"/>
          </a:p>
        </p:txBody>
      </p:sp>
      <p:pic>
        <p:nvPicPr>
          <p:cNvPr id="26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Trn3 UltraServer: MoE를 위해 설계된 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576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2025.12 GA (re:Invent 2025) | 3nm | MoE를 1순위 타겟으로 명시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vs Trn2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4.4×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A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성능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3.9×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00584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A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메모리 대역폭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0" y="13716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4" name="Text 12"/>
          <p:cNvSpPr/>
          <p:nvPr/>
        </p:nvSpPr>
        <p:spPr>
          <a:xfrm>
            <a:off x="448056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 최적화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192024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All-to-all 통신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최적화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b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</a:br>
            <a:r>
              <a:rPr lang="ko-KR" alt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 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인터커넥트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
•  Expert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오프로딩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b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</a:br>
            <a:r>
              <a:rPr lang="ko-KR" alt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 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불필요한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대역폭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
•  144 Trainium3</a:t>
            </a:r>
            <a:r>
              <a:rPr lang="en-US" altLang="ko-KR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칩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b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</a:br>
            <a:r>
              <a:rPr lang="ko-KR" alt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 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스케일업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
•  362 FP8 petaflops
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80960" y="13716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7" name="Text 15"/>
          <p:cNvSpPr/>
          <p:nvPr/>
        </p:nvSpPr>
        <p:spPr>
          <a:xfrm>
            <a:off x="795528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vs GPU (P5e)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0" y="192024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30-40% 더 나은 가성비
•  MoE/RL/추론/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장문맥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b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</a:br>
            <a:r>
              <a:rPr lang="ko-KR" alt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 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특화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
•  에너지 효율 4배 향상
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38912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20" name="Text 18"/>
          <p:cNvSpPr/>
          <p:nvPr/>
        </p:nvSpPr>
        <p:spPr>
          <a:xfrm>
            <a:off x="100584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공식 타겟 워크로드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937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"Mixture-of-Experts, reinforcement learning, reasoning, and long-context architectures"</a:t>
            </a:r>
            <a:endParaRPr lang="en-US" sz="1600" dirty="0"/>
          </a:p>
        </p:txBody>
      </p:sp>
      <p:pic>
        <p:nvPicPr>
          <p:cNvPr id="22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Neuron SDK: MoE 소프트웨어 스택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504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Neuron SDK 2.26 (2025.09)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Expert Parallelism 지원 (beta)
•  NKI (Neuron Kernel Interface) API
•  Trainium/Inferentia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NeuronCore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</a:t>
            </a:r>
            <a:b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</a:br>
            <a:r>
              <a:rPr lang="ko-KR" alt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  </a:t>
            </a:r>
            <a:r>
              <a:rPr lang="en-US" sz="1600" dirty="0" err="1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직접</a:t>
            </a: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 프로그래밍
•  PyTorch 네이티브 통합
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0" name="Text 8"/>
          <p:cNvSpPr/>
          <p:nvPr/>
        </p:nvSpPr>
        <p:spPr>
          <a:xfrm>
            <a:off x="667512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Neuron SDK 2.29 (2026.04)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173736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NKI Standard Library 공개
•  개발자 소스코드 완전 공개
•  CPU Simulator 추가
•  커스텀 MoE 라우팅 커널 구현 가능
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000"/>
          </a:p>
        </p:txBody>
      </p:sp>
      <p:sp>
        <p:nvSpPr>
          <p:cNvPr id="13" name="Text 11"/>
          <p:cNvSpPr/>
          <p:nvPr/>
        </p:nvSpPr>
        <p:spPr>
          <a:xfrm>
            <a:off x="1005840" y="4343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엔지니어에게 의미하는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7548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NKI로 커스텀 라우팅 전략 직접 구현 가능 (Routing-Free MoE 등)
•  Expert Parallelism의 통신 패턴을 하드웨어 수준에서 최적화
•  GPU 대비 30-40% 비용 절감하면서 동일 성능
</a:t>
            </a:r>
            <a:endParaRPr lang="en-US" sz="1600" dirty="0"/>
          </a:p>
        </p:txBody>
      </p:sp>
      <p:pic>
        <p:nvPicPr>
          <p:cNvPr id="15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 프로덕션 인프라 구성 패턴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504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7" name="Shape 5"/>
          <p:cNvSpPr/>
          <p:nvPr/>
        </p:nvSpPr>
        <p:spPr>
          <a:xfrm>
            <a:off x="959004" y="1832146"/>
            <a:ext cx="90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8" name="Text 6"/>
          <p:cNvSpPr/>
          <p:nvPr/>
        </p:nvSpPr>
        <p:spPr>
          <a:xfrm>
            <a:off x="914400" y="153441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컴퓨팅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EC2 P5 (H100)
•  EC2 Trn3
•  EC2 Inf2
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66160" y="137160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11" name="Shape 9"/>
          <p:cNvSpPr/>
          <p:nvPr/>
        </p:nvSpPr>
        <p:spPr>
          <a:xfrm>
            <a:off x="3793644" y="1832146"/>
            <a:ext cx="900000" cy="27432"/>
          </a:xfrm>
          <a:prstGeom prst="rect">
            <a:avLst/>
          </a:prstGeom>
          <a:solidFill>
            <a:srgbClr val="00627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12" name="Text 10"/>
          <p:cNvSpPr/>
          <p:nvPr/>
        </p:nvSpPr>
        <p:spPr>
          <a:xfrm>
            <a:off x="3749040" y="153441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네트워킹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0116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EFA 400Gbps
•  All-to-all 최적화
•  VPC 내부 통신
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37160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15" name="Shape 13"/>
          <p:cNvSpPr/>
          <p:nvPr/>
        </p:nvSpPr>
        <p:spPr>
          <a:xfrm>
            <a:off x="6628284" y="1832146"/>
            <a:ext cx="900000" cy="27432"/>
          </a:xfrm>
          <a:prstGeom prst="rect">
            <a:avLst/>
          </a:prstGeom>
          <a:solidFill>
            <a:srgbClr val="6B4BC6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16" name="Text 14"/>
          <p:cNvSpPr/>
          <p:nvPr/>
        </p:nvSpPr>
        <p:spPr>
          <a:xfrm>
            <a:off x="6583680" y="153441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스토리지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FSx for Lustre
•  수 TB 체크포인트
•  고속 로드/저장
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1371600"/>
            <a:ext cx="2194560" cy="1645920"/>
          </a:xfrm>
          <a:prstGeom prst="roundRect">
            <a:avLst>
              <a:gd name="adj" fmla="val 6667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19" name="Shape 17"/>
          <p:cNvSpPr/>
          <p:nvPr/>
        </p:nvSpPr>
        <p:spPr>
          <a:xfrm>
            <a:off x="9462924" y="1832146"/>
            <a:ext cx="900000" cy="274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20" name="Text 18"/>
          <p:cNvSpPr/>
          <p:nvPr/>
        </p:nvSpPr>
        <p:spPr>
          <a:xfrm>
            <a:off x="9418320" y="153441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컨테이너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0" y="20116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•  DLC (vLLM)
•  EKS/ECS
•  DeepSeek 지원
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291840"/>
            <a:ext cx="10515600" cy="2743200"/>
          </a:xfrm>
          <a:prstGeom prst="roundRect">
            <a:avLst>
              <a:gd name="adj" fmla="val 4000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 sz="2400"/>
          </a:p>
        </p:txBody>
      </p:sp>
      <p:sp>
        <p:nvSpPr>
          <p:cNvPr id="23" name="Text 21"/>
          <p:cNvSpPr/>
          <p:nvPr/>
        </p:nvSpPr>
        <p:spPr>
          <a:xfrm>
            <a:off x="1005840" y="3429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F37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 과제 ↔ AWS 서비스 매핑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0584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추론 메모리 문제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Bedrock (서버리스) + Inf2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251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파인튜닝 비효율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2064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SageMaker Multi-LoRA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4663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분산 학습 복잡성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2064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69280" y="4663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SageMaker SMP v2 + EFA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584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로드 불균형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2064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6928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Neuron SDK NKI (커스텀 커널)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5840" y="5486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전체 학습 비용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20640" y="5486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669280" y="5486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Trn3 (30-40% 가성비 향상)</a:t>
            </a:r>
            <a:endParaRPr lang="en-US" sz="1600" dirty="0"/>
          </a:p>
        </p:txBody>
      </p:sp>
      <p:pic>
        <p:nvPicPr>
          <p:cNvPr id="39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MoE의 미래 방향 (2026~)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396000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1005840" y="1417320"/>
            <a:ext cx="411480" cy="411480"/>
          </a:xfrm>
          <a:prstGeom prst="ellipse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4401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Routing-Free 설계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4401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라우터 자체를 제거하는 근본적 재설계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19456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1005840" y="2423160"/>
            <a:ext cx="411480" cy="411480"/>
          </a:xfrm>
          <a:prstGeom prst="ellipse">
            <a:avLst/>
          </a:prstGeom>
          <a:solidFill>
            <a:srgbClr val="00627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4460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Super Expert 보존 압축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24460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핵심 Expert 식별 후 나머지 공격적 압축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005840" y="3429000"/>
            <a:ext cx="411480" cy="411480"/>
          </a:xfrm>
          <a:prstGeom prst="ellipse">
            <a:avLst/>
          </a:prstGeom>
          <a:solidFill>
            <a:srgbClr val="6B4BC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4518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EMO (Emergent Modularity)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34518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데이터에서 모듈 구조가 자연 발현되는 학습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1005840" y="443484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0584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44577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MoE Entanglement 활용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44577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레이어 간 라우팅 의존성을 활용한 경로 최적화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521208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2D3A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1005840" y="5440680"/>
            <a:ext cx="411480" cy="411480"/>
          </a:xfrm>
          <a:prstGeom prst="ellipse">
            <a:avLst/>
          </a:prstGeom>
          <a:solidFill>
            <a:srgbClr val="0065BD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1005840" y="5440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54635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네이티브 멀티모달 MoE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0" y="54635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8B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모달리티별 Expert 경로로 텍스트/이미지/비디오 처리</a:t>
            </a:r>
            <a:endParaRPr lang="en-US" sz="1400" dirty="0"/>
          </a:p>
        </p:txBody>
      </p:sp>
      <p:pic>
        <p:nvPicPr>
          <p:cNvPr id="31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48640"/>
            <a:ext cx="585216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31520" y="3474720"/>
            <a:ext cx="1280160" cy="27432"/>
          </a:xfrm>
          <a:prstGeom prst="rect">
            <a:avLst/>
          </a:prstGeom>
          <a:solidFill>
            <a:srgbClr val="0B895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Amazon Confidential and Trademark</a:t>
            </a:r>
            <a:endParaRPr lang="en-US" sz="1000" dirty="0"/>
          </a:p>
        </p:txBody>
      </p:sp>
      <p:pic>
        <p:nvPicPr>
          <p:cNvPr id="8" name="Image 1" descr="/Users/hyunkai/.kiro/skills/aws-deck-builder-skill/assets/AWS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6355080"/>
            <a:ext cx="585216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3285</Words>
  <Application>Microsoft Macintosh PowerPoint</Application>
  <PresentationFormat>Widescreen</PresentationFormat>
  <Paragraphs>413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Amazon Ember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Kim, Hyunsoo</cp:lastModifiedBy>
  <cp:revision>2</cp:revision>
  <dcterms:created xsi:type="dcterms:W3CDTF">2026-05-13T01:09:18Z</dcterms:created>
  <dcterms:modified xsi:type="dcterms:W3CDTF">2026-05-13T01:33:07Z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2026-05-13T01:33:05Z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517ea367-d9a3-49d9-872b-0a98a1bce736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